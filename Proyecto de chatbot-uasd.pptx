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2"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B61BEF0D-F0BB-DE4B-95CE-6DB70DBA9567}" type="datetimeFigureOut">
              <a:rPr lang="en-US" smtClean="0"/>
              <a:pPr/>
              <a:t>5/26/2026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56433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381835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310335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842778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1141410" y="3073397"/>
            <a:ext cx="4878391" cy="2717801"/>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6172200" y="3073397"/>
            <a:ext cx="4875210" cy="2717801"/>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515945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50218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142830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848540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132006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s-ES" smtClean="0"/>
              <a:t>Haga clic en el icono para agregar una imagen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091988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4482896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s-ES" smtClean="0"/>
              <a:t>Haga clic para modificar el estilo de título del patrón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626630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523739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s-ES" smtClean="0"/>
              <a:t>Haga clic para modificar el estilo de título del patrón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3" name="Date Placeholder 2"/>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8262480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s-ES" smtClean="0"/>
              <a:t>Haga clic para modificar el estilo de título del patrón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smtClean="0"/>
              <a:t>Haga clic en el icono para agregar una imagen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smtClean="0"/>
              <a:t>Haga clic en el icono para agregar una imagen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smtClean="0"/>
              <a:t>Haga clic en el icono para agregar una imagen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3" name="Date Placeholder 2"/>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758278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5261271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2712902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5/26/2026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967440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0">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61BEF0D-F0BB-DE4B-95CE-6DB70DBA9567}" type="datetimeFigureOut">
              <a:rPr lang="en-US" smtClean="0"/>
              <a:pPr/>
              <a:t>5/26/2026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194674227"/>
      </p:ext>
    </p:extLst>
  </p:cSld>
  <p:clrMap bg1="dk1" tx1="lt1" bg2="dk2" tx2="lt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a:bodyPr>
          <a:lstStyle/>
          <a:p>
            <a:r>
              <a:rPr lang="es-DO" sz="4000" dirty="0" smtClean="0">
                <a:solidFill>
                  <a:schemeClr val="bg1"/>
                </a:solidFill>
                <a:latin typeface="Arial" panose="020B0604020202020204" pitchFamily="34" charset="0"/>
                <a:cs typeface="Arial" panose="020B0604020202020204" pitchFamily="34" charset="0"/>
              </a:rPr>
              <a:t>Proyecto de </a:t>
            </a:r>
            <a:r>
              <a:rPr lang="es-DO" sz="4000" dirty="0" err="1" smtClean="0">
                <a:solidFill>
                  <a:schemeClr val="bg1"/>
                </a:solidFill>
                <a:latin typeface="Arial" panose="020B0604020202020204" pitchFamily="34" charset="0"/>
                <a:cs typeface="Arial" panose="020B0604020202020204" pitchFamily="34" charset="0"/>
              </a:rPr>
              <a:t>chatbot-uasd</a:t>
            </a:r>
            <a:endParaRPr lang="en-US" sz="4000" dirty="0">
              <a:solidFill>
                <a:schemeClr val="bg1"/>
              </a:solidFill>
              <a:latin typeface="Arial" panose="020B0604020202020204" pitchFamily="34" charset="0"/>
              <a:cs typeface="Arial" panose="020B0604020202020204" pitchFamily="34" charset="0"/>
            </a:endParaRPr>
          </a:p>
        </p:txBody>
      </p:sp>
      <p:sp>
        <p:nvSpPr>
          <p:cNvPr id="3" name="Subtítulo 2"/>
          <p:cNvSpPr>
            <a:spLocks noGrp="1"/>
          </p:cNvSpPr>
          <p:nvPr>
            <p:ph type="subTitle" idx="1"/>
          </p:nvPr>
        </p:nvSpPr>
        <p:spPr>
          <a:xfrm>
            <a:off x="2278120" y="4135772"/>
            <a:ext cx="6400800" cy="1454092"/>
          </a:xfrm>
        </p:spPr>
        <p:txBody>
          <a:bodyPr/>
          <a:lstStyle/>
          <a:p>
            <a:endParaRPr lang="es-DO" dirty="0" smtClean="0">
              <a:solidFill>
                <a:schemeClr val="tx1"/>
              </a:solidFill>
              <a:latin typeface="Arial" panose="020B0604020202020204" pitchFamily="34" charset="0"/>
              <a:cs typeface="Arial" panose="020B0604020202020204" pitchFamily="34" charset="0"/>
            </a:endParaRPr>
          </a:p>
          <a:p>
            <a:r>
              <a:rPr lang="es-DO" dirty="0" smtClean="0">
                <a:solidFill>
                  <a:schemeClr val="bg1"/>
                </a:solidFill>
                <a:latin typeface="Arial" panose="020B0604020202020204" pitchFamily="34" charset="0"/>
                <a:cs typeface="Arial" panose="020B0604020202020204" pitchFamily="34" charset="0"/>
              </a:rPr>
              <a:t>Rafael Junior Uribe Medrano</a:t>
            </a:r>
            <a:r>
              <a:rPr lang="en-US" dirty="0" smtClean="0">
                <a:solidFill>
                  <a:schemeClr val="bg1"/>
                </a:solidFill>
                <a:latin typeface="Arial" panose="020B0604020202020204" pitchFamily="34" charset="0"/>
                <a:cs typeface="Arial" panose="020B0604020202020204" pitchFamily="34" charset="0"/>
              </a:rPr>
              <a:t> </a:t>
            </a:r>
            <a:r>
              <a:rPr lang="en-US" dirty="0" smtClean="0">
                <a:solidFill>
                  <a:schemeClr val="bg1"/>
                </a:solidFill>
                <a:latin typeface="Arial" panose="020B0604020202020204" pitchFamily="34" charset="0"/>
                <a:cs typeface="Arial" panose="020B0604020202020204" pitchFamily="34" charset="0"/>
              </a:rPr>
              <a:t>100627222</a:t>
            </a:r>
          </a:p>
          <a:p>
            <a:r>
              <a:rPr lang="es-DO" dirty="0" err="1" smtClean="0">
                <a:solidFill>
                  <a:schemeClr val="bg1"/>
                </a:solidFill>
                <a:latin typeface="Arial" panose="020B0604020202020204" pitchFamily="34" charset="0"/>
                <a:cs typeface="Arial" panose="020B0604020202020204" pitchFamily="34" charset="0"/>
              </a:rPr>
              <a:t>Yerik</a:t>
            </a:r>
            <a:r>
              <a:rPr lang="es-DO" dirty="0" smtClean="0">
                <a:solidFill>
                  <a:schemeClr val="bg1"/>
                </a:solidFill>
                <a:latin typeface="Arial" panose="020B0604020202020204" pitchFamily="34" charset="0"/>
                <a:cs typeface="Arial" panose="020B0604020202020204" pitchFamily="34" charset="0"/>
              </a:rPr>
              <a:t> </a:t>
            </a:r>
            <a:r>
              <a:rPr lang="es-DO" dirty="0" err="1" smtClean="0">
                <a:solidFill>
                  <a:schemeClr val="bg1"/>
                </a:solidFill>
                <a:latin typeface="Arial" panose="020B0604020202020204" pitchFamily="34" charset="0"/>
                <a:cs typeface="Arial" panose="020B0604020202020204" pitchFamily="34" charset="0"/>
              </a:rPr>
              <a:t>Janer</a:t>
            </a:r>
            <a:r>
              <a:rPr lang="es-DO" dirty="0" smtClean="0">
                <a:solidFill>
                  <a:schemeClr val="bg1"/>
                </a:solidFill>
                <a:latin typeface="Arial" panose="020B0604020202020204" pitchFamily="34" charset="0"/>
                <a:cs typeface="Arial" panose="020B0604020202020204" pitchFamily="34" charset="0"/>
              </a:rPr>
              <a:t> </a:t>
            </a:r>
            <a:r>
              <a:rPr lang="es-DO" dirty="0" err="1" smtClean="0">
                <a:solidFill>
                  <a:schemeClr val="bg1"/>
                </a:solidFill>
                <a:latin typeface="Arial" panose="020B0604020202020204" pitchFamily="34" charset="0"/>
                <a:cs typeface="Arial" panose="020B0604020202020204" pitchFamily="34" charset="0"/>
              </a:rPr>
              <a:t>Jimenez</a:t>
            </a:r>
            <a:r>
              <a:rPr lang="es-DO" dirty="0" smtClean="0">
                <a:solidFill>
                  <a:schemeClr val="bg1"/>
                </a:solidFill>
                <a:latin typeface="Arial" panose="020B0604020202020204" pitchFamily="34" charset="0"/>
                <a:cs typeface="Arial" panose="020B0604020202020204" pitchFamily="34" charset="0"/>
              </a:rPr>
              <a:t> </a:t>
            </a:r>
            <a:r>
              <a:rPr lang="es-DO" dirty="0" err="1" smtClean="0">
                <a:solidFill>
                  <a:schemeClr val="bg1"/>
                </a:solidFill>
                <a:latin typeface="Arial" panose="020B0604020202020204" pitchFamily="34" charset="0"/>
                <a:cs typeface="Arial" panose="020B0604020202020204" pitchFamily="34" charset="0"/>
              </a:rPr>
              <a:t>Made</a:t>
            </a:r>
            <a:r>
              <a:rPr lang="es-DO" dirty="0" smtClean="0">
                <a:solidFill>
                  <a:schemeClr val="bg1"/>
                </a:solidFill>
                <a:latin typeface="Arial" panose="020B0604020202020204" pitchFamily="34" charset="0"/>
                <a:cs typeface="Arial" panose="020B0604020202020204" pitchFamily="34" charset="0"/>
              </a:rPr>
              <a:t> 100509159</a:t>
            </a:r>
            <a:endParaRPr lang="es-DO" dirty="0" smtClean="0">
              <a:solidFill>
                <a:schemeClr val="bg1"/>
              </a:solidFill>
              <a:latin typeface="Arial" panose="020B0604020202020204" pitchFamily="34" charset="0"/>
              <a:cs typeface="Arial" panose="020B0604020202020204" pitchFamily="34" charset="0"/>
            </a:endParaRPr>
          </a:p>
        </p:txBody>
      </p:sp>
      <p:pic>
        <p:nvPicPr>
          <p:cNvPr id="9" name="Imagen 8"/>
          <p:cNvPicPr>
            <a:picLocks noChangeAspect="1"/>
          </p:cNvPicPr>
          <p:nvPr/>
        </p:nvPicPr>
        <p:blipFill>
          <a:blip r:embed="rId2"/>
          <a:stretch>
            <a:fillRect/>
          </a:stretch>
        </p:blipFill>
        <p:spPr>
          <a:xfrm>
            <a:off x="5083729" y="684040"/>
            <a:ext cx="1414362" cy="1743844"/>
          </a:xfrm>
          <a:prstGeom prst="rect">
            <a:avLst/>
          </a:prstGeom>
        </p:spPr>
      </p:pic>
    </p:spTree>
    <p:extLst>
      <p:ext uri="{BB962C8B-B14F-4D97-AF65-F5344CB8AC3E}">
        <p14:creationId xmlns:p14="http://schemas.microsoft.com/office/powerpoint/2010/main" val="1759339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4211" y="3162649"/>
            <a:ext cx="9265131" cy="2474753"/>
          </a:xfrm>
        </p:spPr>
        <p:txBody>
          <a:bodyPr>
            <a:normAutofit/>
          </a:bodyPr>
          <a:lstStyle/>
          <a:p>
            <a:pPr algn="just"/>
            <a:r>
              <a:rPr lang="es-ES" sz="2000" b="1" dirty="0">
                <a:solidFill>
                  <a:schemeClr val="bg1"/>
                </a:solidFill>
                <a:latin typeface="Arial" panose="020B0604020202020204" pitchFamily="34" charset="0"/>
                <a:cs typeface="Arial" panose="020B0604020202020204" pitchFamily="34" charset="0"/>
              </a:rPr>
              <a:t>Desarrollar una aplicación web inteligente que integre tecnologías modernas de desarrollo web e inteligencia artificial para la consulta interactiva del Estatuto Orgánico de la UASD.</a:t>
            </a:r>
            <a:r>
              <a:rPr lang="es-ES" dirty="0"/>
              <a:t/>
            </a:r>
            <a:br>
              <a:rPr lang="es-ES" dirty="0"/>
            </a:br>
            <a:endParaRPr lang="en-US" dirty="0"/>
          </a:p>
        </p:txBody>
      </p:sp>
      <p:sp>
        <p:nvSpPr>
          <p:cNvPr id="3" name="Marcador de contenido 2"/>
          <p:cNvSpPr>
            <a:spLocks noGrp="1"/>
          </p:cNvSpPr>
          <p:nvPr>
            <p:ph idx="1"/>
          </p:nvPr>
        </p:nvSpPr>
        <p:spPr>
          <a:xfrm>
            <a:off x="684212" y="685801"/>
            <a:ext cx="8534400" cy="1990288"/>
          </a:xfrm>
        </p:spPr>
        <p:txBody>
          <a:bodyPr/>
          <a:lstStyle/>
          <a:p>
            <a:pPr marL="0" indent="0">
              <a:buNone/>
            </a:pPr>
            <a:r>
              <a:rPr lang="es-ES" sz="4000" dirty="0">
                <a:solidFill>
                  <a:schemeClr val="bg1"/>
                </a:solidFill>
                <a:latin typeface="Arial" panose="020B0604020202020204" pitchFamily="34" charset="0"/>
                <a:cs typeface="Arial" panose="020B0604020202020204" pitchFamily="34" charset="0"/>
              </a:rPr>
              <a:t>Objetivo General</a:t>
            </a:r>
          </a:p>
          <a:p>
            <a:pPr marL="0" indent="0">
              <a:buNone/>
            </a:pPr>
            <a:endParaRPr lang="en-US" dirty="0"/>
          </a:p>
        </p:txBody>
      </p:sp>
    </p:spTree>
    <p:extLst>
      <p:ext uri="{BB962C8B-B14F-4D97-AF65-F5344CB8AC3E}">
        <p14:creationId xmlns:p14="http://schemas.microsoft.com/office/powerpoint/2010/main" val="3680297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84213" y="685800"/>
            <a:ext cx="10058400" cy="1084277"/>
          </a:xfrm>
        </p:spPr>
        <p:txBody>
          <a:bodyPr>
            <a:normAutofit/>
          </a:bodyPr>
          <a:lstStyle/>
          <a:p>
            <a:r>
              <a:rPr lang="en-US" sz="4000" b="1" dirty="0" err="1">
                <a:solidFill>
                  <a:schemeClr val="bg1"/>
                </a:solidFill>
                <a:latin typeface="Arial" panose="020B0604020202020204" pitchFamily="34" charset="0"/>
                <a:cs typeface="Arial" panose="020B0604020202020204" pitchFamily="34" charset="0"/>
              </a:rPr>
              <a:t>Objetivos</a:t>
            </a:r>
            <a:r>
              <a:rPr lang="en-US" sz="4000" b="1" dirty="0">
                <a:solidFill>
                  <a:schemeClr val="bg1"/>
                </a:solidFill>
                <a:latin typeface="Arial" panose="020B0604020202020204" pitchFamily="34" charset="0"/>
                <a:cs typeface="Arial" panose="020B0604020202020204" pitchFamily="34" charset="0"/>
              </a:rPr>
              <a:t> </a:t>
            </a:r>
            <a:r>
              <a:rPr lang="en-US" sz="4000" b="1" dirty="0" err="1">
                <a:solidFill>
                  <a:schemeClr val="bg1"/>
                </a:solidFill>
                <a:latin typeface="Arial" panose="020B0604020202020204" pitchFamily="34" charset="0"/>
                <a:cs typeface="Arial" panose="020B0604020202020204" pitchFamily="34" charset="0"/>
              </a:rPr>
              <a:t>Específicos</a:t>
            </a:r>
            <a:r>
              <a:rPr lang="en-US" dirty="0"/>
              <a:t/>
            </a:r>
            <a:br>
              <a:rPr lang="en-US" dirty="0"/>
            </a:br>
            <a:endParaRPr lang="en-US" dirty="0"/>
          </a:p>
        </p:txBody>
      </p:sp>
      <p:sp>
        <p:nvSpPr>
          <p:cNvPr id="5" name="Marcador de texto 4"/>
          <p:cNvSpPr>
            <a:spLocks noGrp="1"/>
          </p:cNvSpPr>
          <p:nvPr>
            <p:ph type="body" idx="1"/>
          </p:nvPr>
        </p:nvSpPr>
        <p:spPr>
          <a:xfrm>
            <a:off x="969438" y="1912691"/>
            <a:ext cx="7788669" cy="4370663"/>
          </a:xfrm>
        </p:spPr>
        <p:txBody>
          <a:bodyPr>
            <a:normAutofit fontScale="62500" lnSpcReduction="20000"/>
          </a:bodyPr>
          <a:lstStyle/>
          <a:p>
            <a:pPr marL="171450" indent="-171450">
              <a:buFont typeface="Arial" panose="020B0604020202020204" pitchFamily="34" charset="0"/>
              <a:buChar char="•"/>
            </a:pPr>
            <a:endParaRPr lang="es-ES" sz="1400" dirty="0" smtClean="0">
              <a:solidFill>
                <a:schemeClr val="bg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endParaRPr lang="es-ES" sz="1400" dirty="0">
              <a:solidFill>
                <a:schemeClr val="bg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endParaRPr lang="es-ES" sz="1900" dirty="0" smtClean="0">
              <a:solidFill>
                <a:schemeClr val="bg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s-ES" sz="1900" dirty="0" smtClean="0">
                <a:solidFill>
                  <a:schemeClr val="bg1"/>
                </a:solidFill>
                <a:latin typeface="Arial" panose="020B0604020202020204" pitchFamily="34" charset="0"/>
                <a:cs typeface="Arial" panose="020B0604020202020204" pitchFamily="34" charset="0"/>
              </a:rPr>
              <a:t>Diseñar </a:t>
            </a:r>
            <a:r>
              <a:rPr lang="es-ES" sz="1900" dirty="0">
                <a:solidFill>
                  <a:schemeClr val="bg1"/>
                </a:solidFill>
                <a:latin typeface="Arial" panose="020B0604020202020204" pitchFamily="34" charset="0"/>
                <a:cs typeface="Arial" panose="020B0604020202020204" pitchFamily="34" charset="0"/>
              </a:rPr>
              <a:t>una interfaz web moderna, clara e intuitiva.</a:t>
            </a:r>
          </a:p>
          <a:p>
            <a:pPr marL="171450" indent="-171450">
              <a:buFont typeface="Arial" panose="020B0604020202020204" pitchFamily="34" charset="0"/>
              <a:buChar char="•"/>
            </a:pPr>
            <a:endParaRPr lang="es-ES" sz="1900" dirty="0">
              <a:solidFill>
                <a:schemeClr val="bg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s-ES" sz="1900" dirty="0">
                <a:solidFill>
                  <a:schemeClr val="bg1"/>
                </a:solidFill>
                <a:latin typeface="Arial" panose="020B0604020202020204" pitchFamily="34" charset="0"/>
                <a:cs typeface="Arial" panose="020B0604020202020204" pitchFamily="34" charset="0"/>
              </a:rPr>
              <a:t>Implementar un </a:t>
            </a:r>
            <a:r>
              <a:rPr lang="es-ES" sz="1900" dirty="0" err="1">
                <a:solidFill>
                  <a:schemeClr val="bg1"/>
                </a:solidFill>
                <a:latin typeface="Arial" panose="020B0604020202020204" pitchFamily="34" charset="0"/>
                <a:cs typeface="Arial" panose="020B0604020202020204" pitchFamily="34" charset="0"/>
              </a:rPr>
              <a:t>chatbot</a:t>
            </a:r>
            <a:r>
              <a:rPr lang="es-ES" sz="1900" dirty="0">
                <a:solidFill>
                  <a:schemeClr val="bg1"/>
                </a:solidFill>
                <a:latin typeface="Arial" panose="020B0604020202020204" pitchFamily="34" charset="0"/>
                <a:cs typeface="Arial" panose="020B0604020202020204" pitchFamily="34" charset="0"/>
              </a:rPr>
              <a:t> con capacidad de interacción conversacional.</a:t>
            </a:r>
          </a:p>
          <a:p>
            <a:pPr marL="171450" indent="-171450">
              <a:buFont typeface="Arial" panose="020B0604020202020204" pitchFamily="34" charset="0"/>
              <a:buChar char="•"/>
            </a:pPr>
            <a:endParaRPr lang="es-ES" sz="1900" dirty="0">
              <a:solidFill>
                <a:schemeClr val="bg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s-ES" sz="1900" dirty="0">
                <a:solidFill>
                  <a:schemeClr val="bg1"/>
                </a:solidFill>
                <a:latin typeface="Arial" panose="020B0604020202020204" pitchFamily="34" charset="0"/>
                <a:cs typeface="Arial" panose="020B0604020202020204" pitchFamily="34" charset="0"/>
              </a:rPr>
              <a:t>Integrar inteligencia artificial para interpretar preguntas y generar respuestas.</a:t>
            </a:r>
          </a:p>
          <a:p>
            <a:pPr marL="171450" indent="-171450">
              <a:buFont typeface="Arial" panose="020B0604020202020204" pitchFamily="34" charset="0"/>
              <a:buChar char="•"/>
            </a:pPr>
            <a:endParaRPr lang="es-ES" sz="1900" dirty="0">
              <a:solidFill>
                <a:schemeClr val="bg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s-ES" sz="1900" dirty="0">
                <a:solidFill>
                  <a:schemeClr val="bg1"/>
                </a:solidFill>
                <a:latin typeface="Arial" panose="020B0604020202020204" pitchFamily="34" charset="0"/>
                <a:cs typeface="Arial" panose="020B0604020202020204" pitchFamily="34" charset="0"/>
              </a:rPr>
              <a:t>Utilizar el Estatuto Orgánico de la UASD como fuente principal de información.</a:t>
            </a:r>
          </a:p>
          <a:p>
            <a:pPr marL="171450" indent="-171450">
              <a:buFont typeface="Arial" panose="020B0604020202020204" pitchFamily="34" charset="0"/>
              <a:buChar char="•"/>
            </a:pPr>
            <a:endParaRPr lang="es-ES" sz="1900" dirty="0">
              <a:solidFill>
                <a:schemeClr val="bg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s-ES" sz="1900" dirty="0">
                <a:solidFill>
                  <a:schemeClr val="bg1"/>
                </a:solidFill>
                <a:latin typeface="Arial" panose="020B0604020202020204" pitchFamily="34" charset="0"/>
                <a:cs typeface="Arial" panose="020B0604020202020204" pitchFamily="34" charset="0"/>
              </a:rPr>
              <a:t>Incorporar preguntas sugeridas relacionadas con el contenido del Estatuto.</a:t>
            </a:r>
          </a:p>
          <a:p>
            <a:pPr marL="171450" indent="-171450">
              <a:buFont typeface="Arial" panose="020B0604020202020204" pitchFamily="34" charset="0"/>
              <a:buChar char="•"/>
            </a:pPr>
            <a:endParaRPr lang="es-ES" sz="1900" dirty="0">
              <a:solidFill>
                <a:schemeClr val="bg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s-ES" sz="1900" dirty="0">
                <a:solidFill>
                  <a:schemeClr val="bg1"/>
                </a:solidFill>
                <a:latin typeface="Arial" panose="020B0604020202020204" pitchFamily="34" charset="0"/>
                <a:cs typeface="Arial" panose="020B0604020202020204" pitchFamily="34" charset="0"/>
              </a:rPr>
              <a:t>Aplicar buenas prácticas de programación, organización del código y diseño web</a:t>
            </a:r>
            <a:r>
              <a:rPr lang="es-ES" sz="1200" dirty="0">
                <a:solidFill>
                  <a:schemeClr val="bg1"/>
                </a:solidFill>
                <a:latin typeface="Arial" panose="020B0604020202020204" pitchFamily="34" charset="0"/>
                <a:cs typeface="Arial" panose="020B0604020202020204" pitchFamily="34" charset="0"/>
              </a:rPr>
              <a:t>.</a:t>
            </a:r>
          </a:p>
          <a:p>
            <a:endParaRPr lang="es-ES" dirty="0"/>
          </a:p>
          <a:p>
            <a:endParaRPr lang="en-US" dirty="0"/>
          </a:p>
        </p:txBody>
      </p:sp>
    </p:spTree>
    <p:extLst>
      <p:ext uri="{BB962C8B-B14F-4D97-AF65-F5344CB8AC3E}">
        <p14:creationId xmlns:p14="http://schemas.microsoft.com/office/powerpoint/2010/main" val="1744629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8670" y="669022"/>
            <a:ext cx="8001000" cy="799051"/>
          </a:xfrm>
        </p:spPr>
        <p:txBody>
          <a:bodyPr>
            <a:normAutofit/>
          </a:bodyPr>
          <a:lstStyle/>
          <a:p>
            <a:r>
              <a:rPr lang="es-DO" sz="4000" dirty="0" smtClean="0">
                <a:solidFill>
                  <a:schemeClr val="bg1"/>
                </a:solidFill>
                <a:latin typeface="Arial" panose="020B0604020202020204" pitchFamily="34" charset="0"/>
                <a:cs typeface="Arial" panose="020B0604020202020204" pitchFamily="34" charset="0"/>
              </a:rPr>
              <a:t>Requisitos técnicos</a:t>
            </a:r>
            <a:endParaRPr lang="en-US" sz="4000" dirty="0">
              <a:solidFill>
                <a:schemeClr val="bg1"/>
              </a:solidFill>
              <a:latin typeface="Arial" panose="020B0604020202020204" pitchFamily="34" charset="0"/>
              <a:cs typeface="Arial" panose="020B0604020202020204" pitchFamily="34" charset="0"/>
            </a:endParaRPr>
          </a:p>
        </p:txBody>
      </p:sp>
      <p:sp>
        <p:nvSpPr>
          <p:cNvPr id="3" name="Subtítulo 2"/>
          <p:cNvSpPr>
            <a:spLocks noGrp="1"/>
          </p:cNvSpPr>
          <p:nvPr>
            <p:ph type="subTitle" idx="1"/>
          </p:nvPr>
        </p:nvSpPr>
        <p:spPr>
          <a:xfrm>
            <a:off x="1858670" y="2365696"/>
            <a:ext cx="8669514" cy="3816989"/>
          </a:xfrm>
        </p:spPr>
        <p:txBody>
          <a:bodyPr>
            <a:normAutofit fontScale="85000" lnSpcReduction="20000"/>
          </a:bodyPr>
          <a:lstStyle/>
          <a:p>
            <a:r>
              <a:rPr lang="es-DO" sz="1600" dirty="0" smtClean="0">
                <a:solidFill>
                  <a:schemeClr val="bg1"/>
                </a:solidFill>
                <a:latin typeface="Arial" panose="020B0604020202020204" pitchFamily="34" charset="0"/>
                <a:cs typeface="Arial" panose="020B0604020202020204" pitchFamily="34" charset="0"/>
              </a:rPr>
              <a:t>Los requisitos o herramientas que se utilizaron para este proyectos fueron: </a:t>
            </a:r>
          </a:p>
          <a:p>
            <a:pPr algn="just"/>
            <a:r>
              <a:rPr lang="es-ES" sz="1050" b="1" dirty="0">
                <a:solidFill>
                  <a:schemeClr val="bg1"/>
                </a:solidFill>
                <a:latin typeface="Arial" panose="020B0604020202020204" pitchFamily="34" charset="0"/>
                <a:cs typeface="Arial" panose="020B0604020202020204" pitchFamily="34" charset="0"/>
              </a:rPr>
              <a:t>HTML (</a:t>
            </a:r>
            <a:r>
              <a:rPr lang="es-ES" sz="1050" b="1" dirty="0" err="1">
                <a:solidFill>
                  <a:schemeClr val="bg1"/>
                </a:solidFill>
                <a:latin typeface="Arial" panose="020B0604020202020204" pitchFamily="34" charset="0"/>
                <a:cs typeface="Arial" panose="020B0604020202020204" pitchFamily="34" charset="0"/>
              </a:rPr>
              <a:t>HyperText</a:t>
            </a:r>
            <a:r>
              <a:rPr lang="es-ES" sz="1050" b="1" dirty="0">
                <a:solidFill>
                  <a:schemeClr val="bg1"/>
                </a:solidFill>
                <a:latin typeface="Arial" panose="020B0604020202020204" pitchFamily="34" charset="0"/>
                <a:cs typeface="Arial" panose="020B0604020202020204" pitchFamily="34" charset="0"/>
              </a:rPr>
              <a:t> </a:t>
            </a:r>
            <a:r>
              <a:rPr lang="es-ES" sz="1050" b="1" dirty="0" err="1">
                <a:solidFill>
                  <a:schemeClr val="bg1"/>
                </a:solidFill>
                <a:latin typeface="Arial" panose="020B0604020202020204" pitchFamily="34" charset="0"/>
                <a:cs typeface="Arial" panose="020B0604020202020204" pitchFamily="34" charset="0"/>
              </a:rPr>
              <a:t>Markup</a:t>
            </a:r>
            <a:r>
              <a:rPr lang="es-ES" sz="1050" b="1" dirty="0">
                <a:solidFill>
                  <a:schemeClr val="bg1"/>
                </a:solidFill>
                <a:latin typeface="Arial" panose="020B0604020202020204" pitchFamily="34" charset="0"/>
                <a:cs typeface="Arial" panose="020B0604020202020204" pitchFamily="34" charset="0"/>
              </a:rPr>
              <a:t> </a:t>
            </a:r>
            <a:r>
              <a:rPr lang="es-ES" sz="1050" b="1" dirty="0" err="1">
                <a:solidFill>
                  <a:schemeClr val="bg1"/>
                </a:solidFill>
                <a:latin typeface="Arial" panose="020B0604020202020204" pitchFamily="34" charset="0"/>
                <a:cs typeface="Arial" panose="020B0604020202020204" pitchFamily="34" charset="0"/>
              </a:rPr>
              <a:t>Language</a:t>
            </a:r>
            <a:r>
              <a:rPr lang="es-ES" sz="1050" b="1" dirty="0" smtClean="0">
                <a:solidFill>
                  <a:schemeClr val="bg1"/>
                </a:solidFill>
                <a:latin typeface="Arial" panose="020B0604020202020204" pitchFamily="34" charset="0"/>
                <a:cs typeface="Arial" panose="020B0604020202020204" pitchFamily="34" charset="0"/>
              </a:rPr>
              <a:t>): </a:t>
            </a:r>
            <a:r>
              <a:rPr lang="es-ES" sz="1050" dirty="0" smtClean="0">
                <a:solidFill>
                  <a:schemeClr val="bg1"/>
                </a:solidFill>
                <a:latin typeface="Arial" panose="020B0604020202020204" pitchFamily="34" charset="0"/>
                <a:cs typeface="Arial" panose="020B0604020202020204" pitchFamily="34" charset="0"/>
              </a:rPr>
              <a:t>Es </a:t>
            </a:r>
            <a:r>
              <a:rPr lang="es-ES" sz="1050" dirty="0">
                <a:solidFill>
                  <a:schemeClr val="bg1"/>
                </a:solidFill>
                <a:latin typeface="Arial" panose="020B0604020202020204" pitchFamily="34" charset="0"/>
                <a:cs typeface="Arial" panose="020B0604020202020204" pitchFamily="34" charset="0"/>
              </a:rPr>
              <a:t>el lenguaje de marcado estándar utilizado para estructurar y organizar el contenido de una página web. Define los elementos básicos como textos, imágenes, enlaces y formularios mediante el uso de etiquetas (como &lt;p&gt;, &lt;h1&gt; o &lt;</a:t>
            </a:r>
            <a:r>
              <a:rPr lang="es-ES" sz="1050" dirty="0" err="1">
                <a:solidFill>
                  <a:schemeClr val="bg1"/>
                </a:solidFill>
                <a:latin typeface="Arial" panose="020B0604020202020204" pitchFamily="34" charset="0"/>
                <a:cs typeface="Arial" panose="020B0604020202020204" pitchFamily="34" charset="0"/>
              </a:rPr>
              <a:t>img</a:t>
            </a:r>
            <a:r>
              <a:rPr lang="es-ES" sz="1050" dirty="0">
                <a:solidFill>
                  <a:schemeClr val="bg1"/>
                </a:solidFill>
                <a:latin typeface="Arial" panose="020B0604020202020204" pitchFamily="34" charset="0"/>
                <a:cs typeface="Arial" panose="020B0604020202020204" pitchFamily="34" charset="0"/>
              </a:rPr>
              <a:t>&gt;). Es el "esqueleto" de una web</a:t>
            </a:r>
            <a:r>
              <a:rPr lang="es-ES" sz="1050" dirty="0" smtClean="0">
                <a:solidFill>
                  <a:schemeClr val="bg1"/>
                </a:solidFill>
                <a:latin typeface="Arial" panose="020B0604020202020204" pitchFamily="34" charset="0"/>
                <a:cs typeface="Arial" panose="020B0604020202020204" pitchFamily="34" charset="0"/>
              </a:rPr>
              <a:t>.</a:t>
            </a:r>
          </a:p>
          <a:p>
            <a:pPr algn="just"/>
            <a:r>
              <a:rPr lang="es-ES" sz="1050" b="1" dirty="0" smtClean="0">
                <a:solidFill>
                  <a:schemeClr val="bg1"/>
                </a:solidFill>
                <a:latin typeface="Arial" panose="020B0604020202020204" pitchFamily="34" charset="0"/>
                <a:cs typeface="Arial" panose="020B0604020202020204" pitchFamily="34" charset="0"/>
              </a:rPr>
              <a:t>CSS3 </a:t>
            </a:r>
            <a:r>
              <a:rPr lang="es-ES" sz="1050" b="1" dirty="0">
                <a:solidFill>
                  <a:schemeClr val="bg1"/>
                </a:solidFill>
                <a:latin typeface="Arial" panose="020B0604020202020204" pitchFamily="34" charset="0"/>
                <a:cs typeface="Arial" panose="020B0604020202020204" pitchFamily="34" charset="0"/>
              </a:rPr>
              <a:t>(</a:t>
            </a:r>
            <a:r>
              <a:rPr lang="es-ES" sz="1050" b="1" dirty="0" err="1">
                <a:solidFill>
                  <a:schemeClr val="bg1"/>
                </a:solidFill>
                <a:latin typeface="Arial" panose="020B0604020202020204" pitchFamily="34" charset="0"/>
                <a:cs typeface="Arial" panose="020B0604020202020204" pitchFamily="34" charset="0"/>
              </a:rPr>
              <a:t>Cascading</a:t>
            </a:r>
            <a:r>
              <a:rPr lang="es-ES" sz="1050" b="1" dirty="0">
                <a:solidFill>
                  <a:schemeClr val="bg1"/>
                </a:solidFill>
                <a:latin typeface="Arial" panose="020B0604020202020204" pitchFamily="34" charset="0"/>
                <a:cs typeface="Arial" panose="020B0604020202020204" pitchFamily="34" charset="0"/>
              </a:rPr>
              <a:t> Style </a:t>
            </a:r>
            <a:r>
              <a:rPr lang="es-ES" sz="1050" b="1" dirty="0" err="1">
                <a:solidFill>
                  <a:schemeClr val="bg1"/>
                </a:solidFill>
                <a:latin typeface="Arial" panose="020B0604020202020204" pitchFamily="34" charset="0"/>
                <a:cs typeface="Arial" panose="020B0604020202020204" pitchFamily="34" charset="0"/>
              </a:rPr>
              <a:t>Sheets</a:t>
            </a:r>
            <a:r>
              <a:rPr lang="es-ES" sz="1050" b="1" dirty="0">
                <a:solidFill>
                  <a:schemeClr val="bg1"/>
                </a:solidFill>
                <a:latin typeface="Arial" panose="020B0604020202020204" pitchFamily="34" charset="0"/>
                <a:cs typeface="Arial" panose="020B0604020202020204" pitchFamily="34" charset="0"/>
              </a:rPr>
              <a:t> - Versión </a:t>
            </a:r>
            <a:r>
              <a:rPr lang="es-ES" sz="1050" b="1" dirty="0" smtClean="0">
                <a:solidFill>
                  <a:schemeClr val="bg1"/>
                </a:solidFill>
                <a:latin typeface="Arial" panose="020B0604020202020204" pitchFamily="34" charset="0"/>
                <a:cs typeface="Arial" panose="020B0604020202020204" pitchFamily="34" charset="0"/>
              </a:rPr>
              <a:t>3): </a:t>
            </a:r>
            <a:r>
              <a:rPr lang="es-ES" sz="1050" dirty="0" smtClean="0">
                <a:solidFill>
                  <a:schemeClr val="bg1"/>
                </a:solidFill>
                <a:latin typeface="Arial" panose="020B0604020202020204" pitchFamily="34" charset="0"/>
                <a:cs typeface="Arial" panose="020B0604020202020204" pitchFamily="34" charset="0"/>
              </a:rPr>
              <a:t>Es </a:t>
            </a:r>
            <a:r>
              <a:rPr lang="es-ES" sz="1050" dirty="0">
                <a:solidFill>
                  <a:schemeClr val="bg1"/>
                </a:solidFill>
                <a:latin typeface="Arial" panose="020B0604020202020204" pitchFamily="34" charset="0"/>
                <a:cs typeface="Arial" panose="020B0604020202020204" pitchFamily="34" charset="0"/>
              </a:rPr>
              <a:t>el lenguaje de diseño gráfico utilizado para controlar la presentación, el formato y el aspecto visual de un documento HTML. Permite definir colores, fuentes, </a:t>
            </a:r>
            <a:r>
              <a:rPr lang="es-ES" sz="1050" dirty="0" err="1">
                <a:solidFill>
                  <a:schemeClr val="bg1"/>
                </a:solidFill>
                <a:latin typeface="Arial" panose="020B0604020202020204" pitchFamily="34" charset="0"/>
                <a:cs typeface="Arial" panose="020B0604020202020204" pitchFamily="34" charset="0"/>
              </a:rPr>
              <a:t>layouts</a:t>
            </a:r>
            <a:r>
              <a:rPr lang="es-ES" sz="1050" dirty="0">
                <a:solidFill>
                  <a:schemeClr val="bg1"/>
                </a:solidFill>
                <a:latin typeface="Arial" panose="020B0604020202020204" pitchFamily="34" charset="0"/>
                <a:cs typeface="Arial" panose="020B0604020202020204" pitchFamily="34" charset="0"/>
              </a:rPr>
              <a:t>, animaciones y asegurar que la web se adapte a pantallas de móviles y computadoras. Es la "vestimenta y el maquillaje" de una web</a:t>
            </a:r>
            <a:r>
              <a:rPr lang="es-ES" sz="1050" dirty="0" smtClean="0">
                <a:solidFill>
                  <a:schemeClr val="bg1"/>
                </a:solidFill>
                <a:latin typeface="Arial" panose="020B0604020202020204" pitchFamily="34" charset="0"/>
                <a:cs typeface="Arial" panose="020B0604020202020204" pitchFamily="34" charset="0"/>
              </a:rPr>
              <a:t>.</a:t>
            </a:r>
          </a:p>
          <a:p>
            <a:pPr algn="just"/>
            <a:r>
              <a:rPr lang="es-ES" sz="1050" b="1" dirty="0" smtClean="0">
                <a:solidFill>
                  <a:schemeClr val="bg1"/>
                </a:solidFill>
                <a:latin typeface="Arial" panose="020B0604020202020204" pitchFamily="34" charset="0"/>
                <a:cs typeface="Arial" panose="020B0604020202020204" pitchFamily="34" charset="0"/>
              </a:rPr>
              <a:t>JavaScript </a:t>
            </a:r>
            <a:r>
              <a:rPr lang="es-ES" sz="1050" b="1" dirty="0">
                <a:solidFill>
                  <a:schemeClr val="bg1"/>
                </a:solidFill>
                <a:latin typeface="Arial" panose="020B0604020202020204" pitchFamily="34" charset="0"/>
                <a:cs typeface="Arial" panose="020B0604020202020204" pitchFamily="34" charset="0"/>
              </a:rPr>
              <a:t>(JS</a:t>
            </a:r>
            <a:r>
              <a:rPr lang="es-ES" sz="1050" b="1" dirty="0" smtClean="0">
                <a:solidFill>
                  <a:schemeClr val="bg1"/>
                </a:solidFill>
                <a:latin typeface="Arial" panose="020B0604020202020204" pitchFamily="34" charset="0"/>
                <a:cs typeface="Arial" panose="020B0604020202020204" pitchFamily="34" charset="0"/>
              </a:rPr>
              <a:t>): </a:t>
            </a:r>
            <a:r>
              <a:rPr lang="es-ES" sz="1050" dirty="0" smtClean="0">
                <a:solidFill>
                  <a:schemeClr val="bg1"/>
                </a:solidFill>
                <a:latin typeface="Arial" panose="020B0604020202020204" pitchFamily="34" charset="0"/>
                <a:cs typeface="Arial" panose="020B0604020202020204" pitchFamily="34" charset="0"/>
              </a:rPr>
              <a:t>Es </a:t>
            </a:r>
            <a:r>
              <a:rPr lang="es-ES" sz="1050" dirty="0">
                <a:solidFill>
                  <a:schemeClr val="bg1"/>
                </a:solidFill>
                <a:latin typeface="Arial" panose="020B0604020202020204" pitchFamily="34" charset="0"/>
                <a:cs typeface="Arial" panose="020B0604020202020204" pitchFamily="34" charset="0"/>
              </a:rPr>
              <a:t>un lenguaje de programación que se ejecuta principalmente en el navegador del usuario. Permite añadir interactividad, dinamismo y lógica a las páginas web, como mapas interactivos, gráficos animados, respuestas inmediatas a botones y actualizaciones de contenido sin recargar la página. Es el "cerebro" y el movimiento de una web</a:t>
            </a:r>
            <a:r>
              <a:rPr lang="es-ES" sz="1050" dirty="0" smtClean="0">
                <a:solidFill>
                  <a:schemeClr val="bg1"/>
                </a:solidFill>
                <a:latin typeface="Arial" panose="020B0604020202020204" pitchFamily="34" charset="0"/>
                <a:cs typeface="Arial" panose="020B0604020202020204" pitchFamily="34" charset="0"/>
              </a:rPr>
              <a:t>.</a:t>
            </a:r>
          </a:p>
          <a:p>
            <a:pPr algn="just"/>
            <a:r>
              <a:rPr lang="es-ES" sz="1050" b="1" dirty="0" err="1" smtClean="0">
                <a:solidFill>
                  <a:schemeClr val="bg1"/>
                </a:solidFill>
                <a:latin typeface="Arial" panose="020B0604020202020204" pitchFamily="34" charset="0"/>
                <a:cs typeface="Arial" panose="020B0604020202020204" pitchFamily="34" charset="0"/>
              </a:rPr>
              <a:t>APIs</a:t>
            </a:r>
            <a:r>
              <a:rPr lang="es-ES" sz="1050" b="1" dirty="0" smtClean="0">
                <a:solidFill>
                  <a:schemeClr val="bg1"/>
                </a:solidFill>
                <a:latin typeface="Arial" panose="020B0604020202020204" pitchFamily="34" charset="0"/>
                <a:cs typeface="Arial" panose="020B0604020202020204" pitchFamily="34" charset="0"/>
              </a:rPr>
              <a:t> </a:t>
            </a:r>
            <a:r>
              <a:rPr lang="es-ES" sz="1050" b="1" dirty="0">
                <a:solidFill>
                  <a:schemeClr val="bg1"/>
                </a:solidFill>
                <a:latin typeface="Arial" panose="020B0604020202020204" pitchFamily="34" charset="0"/>
                <a:cs typeface="Arial" panose="020B0604020202020204" pitchFamily="34" charset="0"/>
              </a:rPr>
              <a:t>de Inteligencia Artificial (</a:t>
            </a:r>
            <a:r>
              <a:rPr lang="es-ES" sz="1050" b="1" dirty="0" err="1">
                <a:solidFill>
                  <a:schemeClr val="bg1"/>
                </a:solidFill>
                <a:latin typeface="Arial" panose="020B0604020202020204" pitchFamily="34" charset="0"/>
                <a:cs typeface="Arial" panose="020B0604020202020204" pitchFamily="34" charset="0"/>
              </a:rPr>
              <a:t>Application</a:t>
            </a:r>
            <a:r>
              <a:rPr lang="es-ES" sz="1050" b="1" dirty="0">
                <a:solidFill>
                  <a:schemeClr val="bg1"/>
                </a:solidFill>
                <a:latin typeface="Arial" panose="020B0604020202020204" pitchFamily="34" charset="0"/>
                <a:cs typeface="Arial" panose="020B0604020202020204" pitchFamily="34" charset="0"/>
              </a:rPr>
              <a:t> </a:t>
            </a:r>
            <a:r>
              <a:rPr lang="es-ES" sz="1050" b="1" dirty="0" err="1">
                <a:solidFill>
                  <a:schemeClr val="bg1"/>
                </a:solidFill>
                <a:latin typeface="Arial" panose="020B0604020202020204" pitchFamily="34" charset="0"/>
                <a:cs typeface="Arial" panose="020B0604020202020204" pitchFamily="34" charset="0"/>
              </a:rPr>
              <a:t>Programming</a:t>
            </a:r>
            <a:r>
              <a:rPr lang="es-ES" sz="1050" b="1" dirty="0">
                <a:solidFill>
                  <a:schemeClr val="bg1"/>
                </a:solidFill>
                <a:latin typeface="Arial" panose="020B0604020202020204" pitchFamily="34" charset="0"/>
                <a:cs typeface="Arial" panose="020B0604020202020204" pitchFamily="34" charset="0"/>
              </a:rPr>
              <a:t> </a:t>
            </a:r>
            <a:r>
              <a:rPr lang="es-ES" sz="1050" b="1" dirty="0" smtClean="0">
                <a:solidFill>
                  <a:schemeClr val="bg1"/>
                </a:solidFill>
                <a:latin typeface="Arial" panose="020B0604020202020204" pitchFamily="34" charset="0"/>
                <a:cs typeface="Arial" panose="020B0604020202020204" pitchFamily="34" charset="0"/>
              </a:rPr>
              <a:t>Interfaces): </a:t>
            </a:r>
            <a:r>
              <a:rPr lang="es-ES" sz="1050" dirty="0" smtClean="0">
                <a:solidFill>
                  <a:schemeClr val="bg1"/>
                </a:solidFill>
                <a:latin typeface="Arial" panose="020B0604020202020204" pitchFamily="34" charset="0"/>
                <a:cs typeface="Arial" panose="020B0604020202020204" pitchFamily="34" charset="0"/>
              </a:rPr>
              <a:t>Son </a:t>
            </a:r>
            <a:r>
              <a:rPr lang="es-ES" sz="1050" dirty="0">
                <a:solidFill>
                  <a:schemeClr val="bg1"/>
                </a:solidFill>
                <a:latin typeface="Arial" panose="020B0604020202020204" pitchFamily="34" charset="0"/>
                <a:cs typeface="Arial" panose="020B0604020202020204" pitchFamily="34" charset="0"/>
              </a:rPr>
              <a:t>interfaces que permiten a los desarrolladores conectar sus aplicaciones con modelos de IA </a:t>
            </a:r>
            <a:r>
              <a:rPr lang="es-ES" sz="1050" dirty="0" err="1">
                <a:solidFill>
                  <a:schemeClr val="bg1"/>
                </a:solidFill>
                <a:latin typeface="Arial" panose="020B0604020202020204" pitchFamily="34" charset="0"/>
                <a:cs typeface="Arial" panose="020B0604020202020204" pitchFamily="34" charset="0"/>
              </a:rPr>
              <a:t>preentrenados</a:t>
            </a:r>
            <a:r>
              <a:rPr lang="es-ES" sz="1050" dirty="0">
                <a:solidFill>
                  <a:schemeClr val="bg1"/>
                </a:solidFill>
                <a:latin typeface="Arial" panose="020B0604020202020204" pitchFamily="34" charset="0"/>
                <a:cs typeface="Arial" panose="020B0604020202020204" pitchFamily="34" charset="0"/>
              </a:rPr>
              <a:t> (como procesamiento de lenguaje natural, visión por computadora o generación de imágenes). Gracias a ellas, se pueden integrar funciones avanzadas (como chats inteligentes o reconocimiento facial) sin necesidad de crear la IA desde cero</a:t>
            </a:r>
            <a:r>
              <a:rPr lang="es-ES" sz="1050" dirty="0" smtClean="0">
                <a:solidFill>
                  <a:schemeClr val="bg1"/>
                </a:solidFill>
                <a:latin typeface="Arial" panose="020B0604020202020204" pitchFamily="34" charset="0"/>
                <a:cs typeface="Arial" panose="020B0604020202020204" pitchFamily="34" charset="0"/>
              </a:rPr>
              <a:t>.</a:t>
            </a:r>
          </a:p>
          <a:p>
            <a:pPr algn="just"/>
            <a:r>
              <a:rPr lang="es-ES" sz="1050" b="1" dirty="0" err="1" smtClean="0">
                <a:solidFill>
                  <a:schemeClr val="bg1"/>
                </a:solidFill>
                <a:latin typeface="Arial" panose="020B0604020202020204" pitchFamily="34" charset="0"/>
                <a:cs typeface="Arial" panose="020B0604020202020204" pitchFamily="34" charset="0"/>
              </a:rPr>
              <a:t>React</a:t>
            </a:r>
            <a:r>
              <a:rPr lang="es-ES" sz="1050" b="1" dirty="0" smtClean="0">
                <a:solidFill>
                  <a:schemeClr val="bg1"/>
                </a:solidFill>
                <a:latin typeface="Arial" panose="020B0604020202020204" pitchFamily="34" charset="0"/>
                <a:cs typeface="Arial" panose="020B0604020202020204" pitchFamily="34" charset="0"/>
              </a:rPr>
              <a:t>: </a:t>
            </a:r>
            <a:r>
              <a:rPr lang="es-ES" sz="1050" dirty="0" smtClean="0">
                <a:solidFill>
                  <a:schemeClr val="bg1"/>
                </a:solidFill>
                <a:latin typeface="Arial" panose="020B0604020202020204" pitchFamily="34" charset="0"/>
                <a:cs typeface="Arial" panose="020B0604020202020204" pitchFamily="34" charset="0"/>
              </a:rPr>
              <a:t>Es </a:t>
            </a:r>
            <a:r>
              <a:rPr lang="es-ES" sz="1050" dirty="0">
                <a:solidFill>
                  <a:schemeClr val="bg1"/>
                </a:solidFill>
                <a:latin typeface="Arial" panose="020B0604020202020204" pitchFamily="34" charset="0"/>
                <a:cs typeface="Arial" panose="020B0604020202020204" pitchFamily="34" charset="0"/>
              </a:rPr>
              <a:t>una biblioteca (</a:t>
            </a:r>
            <a:r>
              <a:rPr lang="es-ES" sz="1050" dirty="0" err="1">
                <a:solidFill>
                  <a:schemeClr val="bg1"/>
                </a:solidFill>
                <a:latin typeface="Arial" panose="020B0604020202020204" pitchFamily="34" charset="0"/>
                <a:cs typeface="Arial" panose="020B0604020202020204" pitchFamily="34" charset="0"/>
              </a:rPr>
              <a:t>library</a:t>
            </a:r>
            <a:r>
              <a:rPr lang="es-ES" sz="1050" dirty="0">
                <a:solidFill>
                  <a:schemeClr val="bg1"/>
                </a:solidFill>
                <a:latin typeface="Arial" panose="020B0604020202020204" pitchFamily="34" charset="0"/>
                <a:cs typeface="Arial" panose="020B0604020202020204" pitchFamily="34" charset="0"/>
              </a:rPr>
              <a:t>) de JavaScript de código abierto creada por Meta (Facebook), especializada en el diseño de interfaces de usuario. Se basa en "componentes" (bloques de código reutilizables) que permiten crear aplicaciones web de una sola página (SPA) de forma rápida, eficiente y modular</a:t>
            </a:r>
            <a:r>
              <a:rPr lang="es-ES" sz="1050" dirty="0" smtClean="0">
                <a:solidFill>
                  <a:schemeClr val="bg1"/>
                </a:solidFill>
                <a:latin typeface="Arial" panose="020B0604020202020204" pitchFamily="34" charset="0"/>
                <a:cs typeface="Arial" panose="020B0604020202020204" pitchFamily="34" charset="0"/>
              </a:rPr>
              <a:t>.</a:t>
            </a:r>
          </a:p>
          <a:p>
            <a:pPr algn="just"/>
            <a:r>
              <a:rPr lang="es-ES" sz="1050" b="1" dirty="0" smtClean="0">
                <a:solidFill>
                  <a:schemeClr val="bg1"/>
                </a:solidFill>
                <a:latin typeface="Arial" panose="020B0604020202020204" pitchFamily="34" charset="0"/>
                <a:cs typeface="Arial" panose="020B0604020202020204" pitchFamily="34" charset="0"/>
              </a:rPr>
              <a:t>Node.js: </a:t>
            </a:r>
            <a:r>
              <a:rPr lang="es-ES" sz="1050" dirty="0" smtClean="0">
                <a:solidFill>
                  <a:schemeClr val="bg1"/>
                </a:solidFill>
                <a:latin typeface="Arial" panose="020B0604020202020204" pitchFamily="34" charset="0"/>
                <a:cs typeface="Arial" panose="020B0604020202020204" pitchFamily="34" charset="0"/>
              </a:rPr>
              <a:t>Es </a:t>
            </a:r>
            <a:r>
              <a:rPr lang="es-ES" sz="1050" dirty="0">
                <a:solidFill>
                  <a:schemeClr val="bg1"/>
                </a:solidFill>
                <a:latin typeface="Arial" panose="020B0604020202020204" pitchFamily="34" charset="0"/>
                <a:cs typeface="Arial" panose="020B0604020202020204" pitchFamily="34" charset="0"/>
              </a:rPr>
              <a:t>un entorno de ejecución (</a:t>
            </a:r>
            <a:r>
              <a:rPr lang="es-ES" sz="1050" dirty="0" err="1">
                <a:solidFill>
                  <a:schemeClr val="bg1"/>
                </a:solidFill>
                <a:latin typeface="Arial" panose="020B0604020202020204" pitchFamily="34" charset="0"/>
                <a:cs typeface="Arial" panose="020B0604020202020204" pitchFamily="34" charset="0"/>
              </a:rPr>
              <a:t>runtime</a:t>
            </a:r>
            <a:r>
              <a:rPr lang="es-ES" sz="1050" dirty="0">
                <a:solidFill>
                  <a:schemeClr val="bg1"/>
                </a:solidFill>
                <a:latin typeface="Arial" panose="020B0604020202020204" pitchFamily="34" charset="0"/>
                <a:cs typeface="Arial" panose="020B0604020202020204" pitchFamily="34" charset="0"/>
              </a:rPr>
              <a:t>) de JavaScript construido con el motor V8 de Google Chrome. Permite ejecutar código JavaScript en el servidor (fuera del navegador), lo que hace posible utilizar el mismo lenguaje tanto para el diseño visual como para la lógica detrás de escena (bases de datos, servidores, lógica de negocio).</a:t>
            </a:r>
            <a:endParaRPr lang="es-DO" sz="1050" dirty="0" smtClean="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4914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033900" y="762711"/>
            <a:ext cx="6420577" cy="989176"/>
          </a:xfrm>
        </p:spPr>
        <p:txBody>
          <a:bodyPr>
            <a:normAutofit/>
          </a:bodyPr>
          <a:lstStyle/>
          <a:p>
            <a:pPr algn="ctr"/>
            <a:r>
              <a:rPr lang="es-DO" sz="4000" dirty="0" smtClean="0">
                <a:solidFill>
                  <a:schemeClr val="bg1"/>
                </a:solidFill>
                <a:latin typeface="Arial" panose="020B0604020202020204" pitchFamily="34" charset="0"/>
                <a:cs typeface="Arial" panose="020B0604020202020204" pitchFamily="34" charset="0"/>
              </a:rPr>
              <a:t>Interfaz </a:t>
            </a:r>
            <a:endParaRPr lang="en-US" sz="4000" dirty="0">
              <a:solidFill>
                <a:schemeClr val="bg1"/>
              </a:solidFill>
              <a:latin typeface="Arial" panose="020B0604020202020204" pitchFamily="34" charset="0"/>
              <a:cs typeface="Arial" panose="020B0604020202020204" pitchFamily="34" charset="0"/>
            </a:endParaRPr>
          </a:p>
        </p:txBody>
      </p:sp>
      <p:pic>
        <p:nvPicPr>
          <p:cNvPr id="4" name="Imagen 3"/>
          <p:cNvPicPr>
            <a:picLocks noChangeAspect="1"/>
          </p:cNvPicPr>
          <p:nvPr/>
        </p:nvPicPr>
        <p:blipFill>
          <a:blip r:embed="rId2"/>
          <a:stretch>
            <a:fillRect/>
          </a:stretch>
        </p:blipFill>
        <p:spPr>
          <a:xfrm>
            <a:off x="2033900" y="2072082"/>
            <a:ext cx="8537248" cy="3879444"/>
          </a:xfrm>
          <a:prstGeom prst="rect">
            <a:avLst/>
          </a:prstGeom>
        </p:spPr>
      </p:pic>
    </p:spTree>
    <p:extLst>
      <p:ext uri="{BB962C8B-B14F-4D97-AF65-F5344CB8AC3E}">
        <p14:creationId xmlns:p14="http://schemas.microsoft.com/office/powerpoint/2010/main" val="3849161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971693" y="652401"/>
            <a:ext cx="8001000" cy="1227674"/>
          </a:xfrm>
        </p:spPr>
        <p:txBody>
          <a:bodyPr>
            <a:normAutofit/>
          </a:bodyPr>
          <a:lstStyle/>
          <a:p>
            <a:r>
              <a:rPr lang="es-DO" sz="4000" dirty="0" smtClean="0">
                <a:solidFill>
                  <a:schemeClr val="bg1"/>
                </a:solidFill>
                <a:latin typeface="Arial" panose="020B0604020202020204" pitchFamily="34" charset="0"/>
                <a:cs typeface="Arial" panose="020B0604020202020204" pitchFamily="34" charset="0"/>
              </a:rPr>
              <a:t>Prueba con preguntas </a:t>
            </a:r>
            <a:r>
              <a:rPr lang="es-DO" sz="4000" dirty="0" err="1" smtClean="0">
                <a:solidFill>
                  <a:schemeClr val="bg1"/>
                </a:solidFill>
                <a:latin typeface="Arial" panose="020B0604020202020204" pitchFamily="34" charset="0"/>
                <a:cs typeface="Arial" panose="020B0604020202020204" pitchFamily="34" charset="0"/>
              </a:rPr>
              <a:t>preelaboradas</a:t>
            </a:r>
            <a:endParaRPr lang="en-US" sz="4000" dirty="0">
              <a:solidFill>
                <a:schemeClr val="bg1"/>
              </a:solidFill>
              <a:latin typeface="Arial" panose="020B0604020202020204" pitchFamily="34" charset="0"/>
              <a:cs typeface="Arial" panose="020B0604020202020204" pitchFamily="34" charset="0"/>
            </a:endParaRPr>
          </a:p>
        </p:txBody>
      </p:sp>
      <p:pic>
        <p:nvPicPr>
          <p:cNvPr id="4" name="Imagen 3"/>
          <p:cNvPicPr>
            <a:picLocks noChangeAspect="1"/>
          </p:cNvPicPr>
          <p:nvPr/>
        </p:nvPicPr>
        <p:blipFill>
          <a:blip r:embed="rId2"/>
          <a:stretch>
            <a:fillRect/>
          </a:stretch>
        </p:blipFill>
        <p:spPr>
          <a:xfrm>
            <a:off x="1971693" y="2093720"/>
            <a:ext cx="8978899" cy="4082502"/>
          </a:xfrm>
          <a:prstGeom prst="rect">
            <a:avLst/>
          </a:prstGeom>
        </p:spPr>
      </p:pic>
    </p:spTree>
    <p:extLst>
      <p:ext uri="{BB962C8B-B14F-4D97-AF65-F5344CB8AC3E}">
        <p14:creationId xmlns:p14="http://schemas.microsoft.com/office/powerpoint/2010/main" val="1365299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170632" y="660162"/>
            <a:ext cx="7283702" cy="989176"/>
          </a:xfrm>
        </p:spPr>
        <p:txBody>
          <a:bodyPr>
            <a:normAutofit/>
          </a:bodyPr>
          <a:lstStyle/>
          <a:p>
            <a:r>
              <a:rPr lang="es-DO" sz="4000" dirty="0" smtClean="0">
                <a:solidFill>
                  <a:schemeClr val="bg1"/>
                </a:solidFill>
                <a:latin typeface="Arial" panose="020B0604020202020204" pitchFamily="34" charset="0"/>
                <a:cs typeface="Arial" panose="020B0604020202020204" pitchFamily="34" charset="0"/>
              </a:rPr>
              <a:t>Prueba por el usuario</a:t>
            </a:r>
            <a:endParaRPr lang="en-US" sz="4000" dirty="0">
              <a:solidFill>
                <a:schemeClr val="bg1"/>
              </a:solidFill>
              <a:latin typeface="Arial" panose="020B0604020202020204" pitchFamily="34" charset="0"/>
              <a:cs typeface="Arial" panose="020B0604020202020204" pitchFamily="34" charset="0"/>
            </a:endParaRPr>
          </a:p>
        </p:txBody>
      </p:sp>
      <p:pic>
        <p:nvPicPr>
          <p:cNvPr id="4" name="Imagen 3"/>
          <p:cNvPicPr>
            <a:picLocks noChangeAspect="1"/>
          </p:cNvPicPr>
          <p:nvPr/>
        </p:nvPicPr>
        <p:blipFill>
          <a:blip r:embed="rId2"/>
          <a:stretch>
            <a:fillRect/>
          </a:stretch>
        </p:blipFill>
        <p:spPr>
          <a:xfrm>
            <a:off x="2170632" y="1880075"/>
            <a:ext cx="7657032" cy="4144709"/>
          </a:xfrm>
          <a:prstGeom prst="rect">
            <a:avLst/>
          </a:prstGeom>
        </p:spPr>
      </p:pic>
    </p:spTree>
    <p:extLst>
      <p:ext uri="{BB962C8B-B14F-4D97-AF65-F5344CB8AC3E}">
        <p14:creationId xmlns:p14="http://schemas.microsoft.com/office/powerpoint/2010/main" val="1844302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48467" y="2231472"/>
            <a:ext cx="9905998" cy="1509859"/>
          </a:xfrm>
        </p:spPr>
        <p:txBody>
          <a:bodyPr>
            <a:normAutofit/>
          </a:bodyPr>
          <a:lstStyle/>
          <a:p>
            <a:pPr algn="ctr"/>
            <a:r>
              <a:rPr lang="es-DO" sz="3200" dirty="0" smtClean="0">
                <a:solidFill>
                  <a:schemeClr val="bg1"/>
                </a:solidFill>
                <a:latin typeface="Arial" panose="020B0604020202020204" pitchFamily="34" charset="0"/>
                <a:cs typeface="Arial" panose="020B0604020202020204" pitchFamily="34" charset="0"/>
              </a:rPr>
              <a:t>Gracias por su atención</a:t>
            </a:r>
            <a:endParaRPr lang="en-US" sz="32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83014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Circuito</Template>
  <TotalTime>90</TotalTime>
  <Words>518</Words>
  <Application>Microsoft Office PowerPoint</Application>
  <PresentationFormat>Panorámica</PresentationFormat>
  <Paragraphs>33</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Trebuchet MS</vt:lpstr>
      <vt:lpstr>Tw Cen MT</vt:lpstr>
      <vt:lpstr>Circuito</vt:lpstr>
      <vt:lpstr>Proyecto de chatbot-uasd</vt:lpstr>
      <vt:lpstr>Desarrollar una aplicación web inteligente que integre tecnologías modernas de desarrollo web e inteligencia artificial para la consulta interactiva del Estatuto Orgánico de la UASD. </vt:lpstr>
      <vt:lpstr>Objetivos Específicos </vt:lpstr>
      <vt:lpstr>Requisitos técnicos</vt:lpstr>
      <vt:lpstr>Interfaz </vt:lpstr>
      <vt:lpstr>Prueba con preguntas preelaboradas</vt:lpstr>
      <vt:lpstr>Prueba por el usuario</vt:lpstr>
      <vt:lpstr>Gracias por su atención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de chatbot-uasd</dc:title>
  <dc:creator>usuario</dc:creator>
  <cp:lastModifiedBy>usuario</cp:lastModifiedBy>
  <cp:revision>9</cp:revision>
  <dcterms:created xsi:type="dcterms:W3CDTF">2026-05-26T01:38:22Z</dcterms:created>
  <dcterms:modified xsi:type="dcterms:W3CDTF">2026-05-26T22:46:24Z</dcterms:modified>
</cp:coreProperties>
</file>